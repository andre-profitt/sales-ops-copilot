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resentation xmlns="http://schemas.openxmlformats.org/presentationml/2006/main" xmlns:a="http://schemas.openxmlformats.org/drawingml/2006/main" xmlns:ns3="http://schemas.microsoft.com/office/powerpoint/2012/main" xmlns:r="http://schemas.openxmlformats.org/officeDocument/2006/relationships" showSpecialPlsOnTitleSld="0" embedTrueTypeFonts="1" autoCompressPictures="0">
  <sldMasterIdLst>
    <sldMasterId id="2147484285" r:id="rId4"/>
  </sldMasterIdLst>
  <notesMasterIdLst>
    <notesMasterId r:id="rId19"/>
  </notesMasterIdLst>
  <handoutMasterIdLst>
    <handoutMasterId r:id="rId20"/>
  </handoutMasterIdLst>
  <sldIdLst>
    <sldId id="256" r:id="rId18"/>
    <sldId id="257" r:id="rId17"/>
    <sldId id="258" r:id="rId16"/>
    <sldId id="259" r:id="rId15"/>
    <sldId id="260" r:id="rId14"/>
    <sldId id="261" r:id="rId13"/>
    <sldId id="262" r:id="rId12"/>
    <sldId id="263" r:id="rId11"/>
    <sldId id="264" r:id="rId10"/>
    <sldId id="265" r:id="rId9"/>
    <sldId id="266" r:id="rId8"/>
    <sldId id="267" r:id="rId7"/>
    <sldId id="268" r:id="rId6"/>
    <sldId id="269" r:id="rId5"/>
    <sldId id="270" r:id="rId32"/>
    <sldId id="271" r:id="rId33"/>
    <sldId id="272" r:id="rId34"/>
    <sldId id="273" r:id="rId35"/>
    <sldId id="274" r:id="rId36"/>
    <sldId id="275" r:id="rId37"/>
    <sldId id="276" r:id="rId38"/>
    <sldId id="277" r:id="rId39"/>
    <sldId id="278" r:id="rId40"/>
    <sldId id="279" r:id="rId41"/>
    <sldId id="280" r:id="rId42"/>
    <sldId id="281" r:id="rId43"/>
    <sldId id="282" r:id="rId44"/>
    <sldId id="283" r:id="rId45"/>
  </sldIdLst>
  <sldSz cx="12192000" cy="6858000"/>
  <notesSz cx="6858000" cy="9144000"/>
  <embeddedFontLst>
    <embeddedFont>
      <font typeface="GT America" panose="020B0604020202020204" charset="0"/>
      <regular r:id="rId21"/>
      <bold r:id="rId22"/>
      <italic r:id="rId23"/>
      <boldItalic r:id="rId24"/>
    </embeddedFont>
    <embeddedFont>
      <font typeface="Microsoft Sans Serif" panose="020B0604020202020204" pitchFamily="34" charset="0"/>
      <regular r:id="rId25"/>
    </embeddedFont>
  </embeddedFontLst>
  <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defaultTextStyle>
  <extLst>
    <ext uri="{EFAFB233-063F-42B5-8137-9DF3F51BA10A}">
      <ns3:sldGuideLst>
        <ns3:guide id="1" orient="horz" pos="981" userDrawn="1">
          <ns3:clr>
            <a:srgbClr val="A4A3A4"/>
          </ns3:clr>
        </ns3:guide>
        <ns3:guide id="2" pos="3840">
          <ns3:clr>
            <a:srgbClr val="A4A3A4"/>
          </ns3:clr>
        </ns3:guide>
      </ns3:sldGuideLst>
    </ext>
    <ext uri="{2D200454-40CA-4A62-9FC3-DE9A4176ACB9}">
      <ns3:notesGuideLst/>
    </ext>
  </extLst>
</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{period} LAND review · {scope_label}</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t>{director_name}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Highlights and risks — {period}</a:t>
            </a:r>
          </a:p>
        </p:txBody>
      </p:sp>
      <p:sp>
        <p:nvSpPr>
          <p:cNvPr id="4" name="Content Placeholder 3"/>
          <p:cNvSpPr>
            <a:spLocks noGrp="1"/>
          </p:cNvSpPr>
          <p:nvPr>
            <p:ph idx="55" sz="quarter"/>
          </p:nvPr>
        </p:nvSpPr>
        <p:spPr/>
        <p:txBody>
          <a:bodyPr/>
          <a:lstStyle/>
          <a:p/>
        </p:txBody>
      </p:sp>
      <p:sp>
        <p:nvSpPr>
          <p:cNvPr id="5" name="Text Placeholder 4"/>
          <p:cNvSpPr>
            <a:spLocks noGrp="1"/>
          </p:cNvSpPr>
          <p:nvPr>
            <p:ph type="body" idx="56" sz="quarter"/>
          </p:nvPr>
        </p:nvSpPr>
        <p:spPr/>
        <p:txBody>
          <a:bodyPr/>
          <a:lstStyle/>
          <a:p/>
        </p:txBody>
      </p:sp>
      <p:sp>
        <p:nvSpPr>
          <p:cNvPr id="6" name="Text Placeholder 5"/>
          <p:cNvSpPr>
            <a:spLocks noGrp="1"/>
          </p:cNvSpPr>
          <p:nvPr>
            <p:ph type="body" idx="61" sz="quarter"/>
          </p:nvPr>
        </p:nvSpPr>
        <p:spPr/>
        <p:txBody>
          <a:bodyPr/>
          <a:lstStyle/>
          <a:p/>
        </p:txBody>
      </p:sp>
      <p:sp>
        <p:nvSpPr>
          <p:cNvPr id="7" name="Text Placeholder 6"/>
          <p:cNvSpPr>
            <a:spLocks noGrp="1"/>
          </p:cNvSpPr>
          <p:nvPr>
            <p:ph type="body" idx="62" sz="quarter"/>
          </p:nvPr>
        </p:nvSpPr>
        <p:spPr/>
        <p:txBody>
          <a:bodyPr/>
          <a:lstStyle/>
          <a:p/>
        </p:txBody>
      </p:sp>
      <p:sp>
        <p:nvSpPr>
          <p:cNvPr id="8" name="Text Placeholder 7"/>
          <p:cNvSpPr>
            <a:spLocks noGrp="1"/>
          </p:cNvSpPr>
          <p:nvPr>
            <p:ph type="body" idx="144" sz="quarter"/>
          </p:nvPr>
        </p:nvSpPr>
        <p:spPr/>
        <p:txBody>
          <a:bodyPr/>
          <a:lstStyle/>
          <a:p>
            <a:r>
              <a:t>Exec summary</a:t>
            </a:r>
          </a:p>
        </p:txBody>
      </p:sp>
      <p:sp>
        <p:nvSpPr>
          <p:cNvPr id="9" name="Text Placeholder 8"/>
          <p:cNvSpPr>
            <a:spLocks noGrp="1"/>
          </p:cNvSpPr>
          <p:nvPr>
            <p:ph type="body" idx="145" sz="quarter"/>
          </p:nvPr>
        </p:nvSpPr>
        <p:spPr/>
        <p:txBody>
          <a:bodyPr/>
          <a:lstStyle/>
          <a:p/>
        </p:txBody>
      </p:sp>
      <p:sp>
        <p:nvSpPr>
          <p:cNvPr id="10" name="Rectangle 9"/>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[Exec summary — manual paste for Phase 1]</a:t>
            </a:r>
          </a:p>
          <a:p>
            <a:r>
              <a:rPr sz="1100" b="0">
                <a:solidFill>
                  <a:srgbClr val="1A1D31"/>
                </a:solidFill>
                <a:latin typeface="Arial"/>
              </a:rPr>
              <a:t>Source: state/&lt;period&gt;/&lt;director&gt;/trends.json</a:t>
            </a:r>
          </a:p>
          <a:p>
            <a:r>
              <a:rPr sz="1100" b="0">
                <a:solidFill>
                  <a:srgbClr val="1A1D31"/>
                </a:solidFill>
                <a:latin typeface="Arial"/>
              </a:rPr>
              <a:t>  highlights[] (each: claim + rule_id)</a:t>
            </a:r>
          </a:p>
          <a:p>
            <a:r>
              <a:rPr sz="1100" b="0">
                <a:solidFill>
                  <a:srgbClr val="1A1D31"/>
                </a:solidFill>
                <a:latin typeface="Arial"/>
              </a:rPr>
              <a:t>  risks[]      (each: claim + rule_id)</a:t>
            </a:r>
          </a:p>
          <a:p>
            <a:r>
              <a:rPr sz="1100" b="0">
                <a:solidFill>
                  <a:srgbClr val="1A1D31"/>
                </a:solidFill>
                <a:latin typeface="Arial"/>
              </a:rPr>
              <a:t>Phase 1: copy/paste from state/&lt;period&gt;/&lt;director&gt;/brief.md</a:t>
            </a:r>
          </a:p>
          <a:p>
            <a:r>
              <a:rPr sz="1100" b="0">
                <a:solidFill>
                  <a:srgbClr val="1A1D31"/>
                </a:solidFill>
                <a:latin typeface="Arial"/>
              </a:rPr>
              <a:t>  '## Highlights' bullets into the LEFT content column</a:t>
            </a:r>
          </a:p>
          <a:p>
            <a:r>
              <a:rPr sz="1100" b="0">
                <a:solidFill>
                  <a:srgbClr val="1A1D31"/>
                </a:solidFill>
                <a:latin typeface="Arial"/>
              </a:rPr>
              <a:t>  '## Risks' bullets into the RIGHT content column.</a:t>
            </a:r>
          </a:p>
          <a:p>
            <a:r>
              <a:rPr sz="1100" b="0">
                <a:solidFill>
                  <a:srgbClr val="1A1D31"/>
                </a:solidFill>
                <a:latin typeface="Arial"/>
              </a:rPr>
              <a:t>Phase 2: build a HighlightsSummary sheet in model.xlsx that</a:t>
            </a:r>
          </a:p>
          <a:p>
            <a:r>
              <a:rPr sz="1100" b="0">
                <a:solidFill>
                  <a:srgbClr val="1A1D31"/>
                </a:solidFill>
                <a:latin typeface="Arial"/>
              </a:rPr>
              <a:t>materializes the envelope arrays into bindable cells, then</a:t>
            </a:r>
          </a:p>
          <a:p>
            <a:r>
              <a:rPr sz="1100" b="0">
                <a:solidFill>
                  <a:srgbClr val="1A1D31"/>
                </a:solidFill>
                <a:latin typeface="Arial"/>
              </a:rPr>
              <a:t>wire two think-cell 'Text Linked to Excel' bindings here</a:t>
            </a:r>
          </a:p>
          <a:p>
            <a:r>
              <a:rPr sz="1100" b="0">
                <a:solidFill>
                  <a:srgbClr val="1A1D31"/>
                </a:solidFill>
                <a:latin typeface="Arial"/>
              </a:rPr>
              <a:t>(one per column) pointing at HighlightsSummary!A:A and</a:t>
            </a:r>
          </a:p>
          <a:p>
            <a:r>
              <a:rPr sz="1100" b="0">
                <a:solidFill>
                  <a:srgbClr val="1A1D31"/>
                </a:solidFill>
                <a:latin typeface="Arial"/>
              </a:rPr>
              <a:t>HighlightsSummary!B:B.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Pipeline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What moved this quarter — opening + new − won − lost = closing</a:t>
            </a:r>
          </a:p>
        </p:txBody>
      </p:sp>
      <p:sp>
        <p:nvSpPr>
          <p:cNvPr id="4" name="Text Placeholder 3"/>
          <p:cNvSpPr>
            <a:spLocks noGrp="1"/>
          </p:cNvSpPr>
          <p:nvPr>
            <p:ph type="body" idx="144" sz="quarter"/>
          </p:nvPr>
        </p:nvSpPr>
        <p:spPr/>
        <p:txBody>
          <a:bodyPr/>
          <a:lstStyle/>
          <a:p>
            <a:r>
              <a:t>Pipe-movement bridge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WATERFALL chart — datalinked]</a:t>
            </a:r>
          </a:p>
          <a:p>
            <a:r>
              <a:rPr sz="1100" b="0">
                <a:solidFill>
                  <a:srgbClr val="1A1D31"/>
                </a:solidFill>
                <a:latin typeface="Arial"/>
              </a:rPr>
              <a:t>Range: Pipe_Movement!A2:B6</a:t>
            </a:r>
          </a:p>
          <a:p>
            <a:r>
              <a:rPr sz="1100" b="0">
                <a:solidFill>
                  <a:srgbClr val="1A1D31"/>
                </a:solidFill>
                <a:latin typeface="Arial"/>
              </a:rPr>
              <a:t>  Categories  = Bucket label (col A)</a:t>
            </a:r>
          </a:p>
          <a:p>
            <a:r>
              <a:rPr sz="1100" b="0">
                <a:solidFill>
                  <a:srgbClr val="1A1D31"/>
                </a:solidFill>
                <a:latin typeface="Arial"/>
              </a:rPr>
              <a:t>  Values      = ARR EUR (col B)</a:t>
            </a:r>
          </a:p>
          <a:p>
            <a:r>
              <a:rPr sz="1100" b="0">
                <a:solidFill>
                  <a:srgbClr val="1A1D31"/>
                </a:solidFill>
                <a:latin typeface="Arial"/>
              </a:rPr>
              <a:t>Use 'e' (subtotal) on Closing pipe row. Connectors on by default.</a:t>
            </a:r>
          </a:p>
          <a:p>
            <a:r>
              <a:rPr sz="1100" b="0">
                <a:solidFill>
                  <a:srgbClr val="1A1D31"/>
                </a:solidFill>
                <a:latin typeface="Arial"/>
              </a:rPr>
              <a:t>New+Advanced is currently a residual bucket — Phase 2 will</a:t>
            </a:r>
          </a:p>
          <a:p>
            <a:r>
              <a:rPr sz="1100" b="0">
                <a:solidFill>
                  <a:srgbClr val="1A1D31"/>
                </a:solidFill>
                <a:latin typeface="Arial"/>
              </a:rPr>
              <a:t>decompose via OpportunityFieldHistory.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8-stage SimCorp sales process — open Land+Expand ARR, {period}</a:t>
            </a:r>
          </a:p>
        </p:txBody>
      </p:sp>
      <p:sp>
        <p:nvSpPr>
          <p:cNvPr id="4" name="Text Placeholder 3"/>
          <p:cNvSpPr>
            <a:spLocks noGrp="1"/>
          </p:cNvSpPr>
          <p:nvPr>
            <p:ph type="body" idx="144" sz="quarter"/>
          </p:nvPr>
        </p:nvSpPr>
        <p:spPr/>
        <p:txBody>
          <a:bodyPr/>
          <a:lstStyle/>
          <a:p>
            <a:r>
              <a:t>Pipeline by stage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or COLUMN chart]</a:t>
            </a:r>
          </a:p>
          <a:p>
            <a:r>
              <a:rPr sz="1100" b="0">
                <a:solidFill>
                  <a:srgbClr val="1A1D31"/>
                </a:solidFill>
                <a:latin typeface="Arial"/>
              </a:rPr>
              <a:t>Range: Pipeline_By_Stage!A2:B9</a:t>
            </a:r>
          </a:p>
          <a:p>
            <a:r>
              <a:rPr sz="1100" b="0">
                <a:solidFill>
                  <a:srgbClr val="1A1D31"/>
                </a:solidFill>
                <a:latin typeface="Arial"/>
              </a:rPr>
              <a:t>  X-axis = Stage label  (col A)</a:t>
            </a:r>
          </a:p>
          <a:p>
            <a:r>
              <a:rPr sz="1100" b="0">
                <a:solidFill>
                  <a:srgbClr val="1A1D31"/>
                </a:solidFill>
                <a:latin typeface="Arial"/>
              </a:rPr>
              <a:t>  Y-axis = ARR (EUR)    (col B)</a:t>
            </a:r>
          </a:p>
          <a:p>
            <a:r>
              <a:rPr sz="1100" b="0">
                <a:solidFill>
                  <a:srgbClr val="1A1D31"/>
                </a:solidFill>
                <a:latin typeface="Arial"/>
              </a:rPr>
              <a:t>Optional 2nd series: # Opps from Pipeline_By_Stage!D2:D9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days since CreatedDate</a:t>
            </a:r>
          </a:p>
        </p:txBody>
      </p:sp>
      <p:sp>
        <p:nvSpPr>
          <p:cNvPr id="4" name="Text Placeholder 3"/>
          <p:cNvSpPr>
            <a:spLocks noGrp="1"/>
          </p:cNvSpPr>
          <p:nvPr>
            <p:ph type="body" idx="144" sz="quarter"/>
          </p:nvPr>
        </p:nvSpPr>
        <p:spPr/>
        <p:txBody>
          <a:bodyPr/>
          <a:lstStyle/>
          <a:p>
            <a:r>
              <a:t>Pipeline aging</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STACKED BAR or 100% chart]</a:t>
            </a:r>
          </a:p>
          <a:p>
            <a:r>
              <a:rPr sz="1100" b="0">
                <a:solidFill>
                  <a:srgbClr val="1A1D31"/>
                </a:solidFill>
                <a:latin typeface="Arial"/>
              </a:rPr>
              <a:t>Range: Pipeline_Aging!A2:E7</a:t>
            </a:r>
          </a:p>
          <a:p>
            <a:r>
              <a:rPr sz="1100" b="0">
                <a:solidFill>
                  <a:srgbClr val="1A1D31"/>
                </a:solidFill>
                <a:latin typeface="Arial"/>
              </a:rPr>
              <a:t>  Categories  = Age bucket (col A)</a:t>
            </a:r>
          </a:p>
          <a:p>
            <a:r>
              <a:rPr sz="1100" b="0">
                <a:solidFill>
                  <a:srgbClr val="1A1D31"/>
                </a:solidFill>
                <a:latin typeface="Arial"/>
              </a:rPr>
              <a:t>  Series      = ARR EUR (col D), # Opps (col E)</a:t>
            </a:r>
          </a:p>
          <a:p>
            <a:r>
              <a:rPr sz="1100" b="0">
                <a:solidFill>
                  <a:srgbClr val="1A1D31"/>
                </a:solidFill>
                <a:latin typeface="Arial"/>
              </a:rPr>
              <a:t>Highlight zombie (&gt;730d) bar in coral (#EF3E4A)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Land deals by ARR (named accounts, owners, ages)</a:t>
            </a:r>
          </a:p>
        </p:txBody>
      </p:sp>
      <p:sp>
        <p:nvSpPr>
          <p:cNvPr id="4" name="Text Placeholder 3"/>
          <p:cNvSpPr>
            <a:spLocks noGrp="1"/>
          </p:cNvSpPr>
          <p:nvPr>
            <p:ph type="body" idx="144" sz="quarter"/>
          </p:nvPr>
        </p:nvSpPr>
        <p:spPr/>
        <p:txBody>
          <a:bodyPr/>
          <a:lstStyle/>
          <a:p>
            <a:r>
              <a:t>Top deals — Land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Top_Deals_Land!A1:H11</a:t>
            </a:r>
          </a:p>
          <a:p>
            <a:r>
              <a:rPr sz="1100" b="0">
                <a:solidFill>
                  <a:srgbClr val="1A1D31"/>
                </a:solidFill>
                <a:latin typeface="Arial"/>
              </a:rPr>
              <a:t>  Columns: # / Account / Opportunity / Owner / Stage /</a:t>
            </a:r>
          </a:p>
          <a:p>
            <a:r>
              <a:rPr sz="1100" b="0">
                <a:solidFill>
                  <a:srgbClr val="1A1D31"/>
                </a:solidFill>
                <a:latin typeface="Arial"/>
              </a:rPr>
              <a:t>           Close Date / Age (days) / ARR (EUR)</a:t>
            </a:r>
          </a:p>
          <a:p>
            <a:r>
              <a:rPr sz="1100" b="0">
                <a:solidFill>
                  <a:srgbClr val="1A1D31"/>
                </a:solidFill>
                <a:latin typeface="Arial"/>
              </a:rPr>
              <a:t>Highlight Stage 5+ rows in pale green; flag Age &gt; 365d in coral.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Expand deals by ARR (existing accounts being grown)</a:t>
            </a:r>
          </a:p>
        </p:txBody>
      </p:sp>
      <p:sp>
        <p:nvSpPr>
          <p:cNvPr id="4" name="Text Placeholder 3"/>
          <p:cNvSpPr>
            <a:spLocks noGrp="1"/>
          </p:cNvSpPr>
          <p:nvPr>
            <p:ph type="body" idx="144" sz="quarter"/>
          </p:nvPr>
        </p:nvSpPr>
        <p:spPr/>
        <p:txBody>
          <a:bodyPr/>
          <a:lstStyle/>
          <a:p>
            <a:r>
              <a:t>Top deals — Expand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Top_Deals_Expand!A1:H11</a:t>
            </a:r>
          </a:p>
          <a:p>
            <a:r>
              <a:rPr sz="1100" b="0">
                <a:solidFill>
                  <a:srgbClr val="1A1D31"/>
                </a:solidFill>
                <a:latin typeface="Arial"/>
              </a:rPr>
              <a:t>Same columns as Top deals — Land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3+ Land/Expand deals missing the SimCorp Commercial Approval gate</a:t>
            </a:r>
          </a:p>
        </p:txBody>
      </p:sp>
      <p:sp>
        <p:nvSpPr>
          <p:cNvPr id="4" name="Text Placeholder 3"/>
          <p:cNvSpPr>
            <a:spLocks noGrp="1"/>
          </p:cNvSpPr>
          <p:nvPr>
            <p:ph type="body" idx="144" sz="quarter"/>
          </p:nvPr>
        </p:nvSpPr>
        <p:spPr/>
        <p:txBody>
          <a:bodyPr/>
          <a:lstStyle/>
          <a:p>
            <a:r>
              <a:t>Pending Commercial Approval</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Pending_Commercial_Approval!A3:H&lt;last&gt;</a:t>
            </a:r>
          </a:p>
          <a:p>
            <a:r>
              <a:rPr sz="1100" b="0">
                <a:solidFill>
                  <a:srgbClr val="1A1D31"/>
                </a:solidFill>
                <a:latin typeface="Arial"/>
              </a:rPr>
              <a:t>  Columns: # / Account / Opportunity / Owner / Stage /</a:t>
            </a:r>
          </a:p>
          <a:p>
            <a:r>
              <a:rPr sz="1100" b="0">
                <a:solidFill>
                  <a:srgbClr val="1A1D31"/>
                </a:solidFill>
                <a:latin typeface="Arial"/>
              </a:rPr>
              <a:t>           Close Date / Type / ARR (EUR)</a:t>
            </a:r>
          </a:p>
          <a:p>
            <a:r>
              <a:rPr sz="1100" b="0">
                <a:solidFill>
                  <a:srgbClr val="1A1D31"/>
                </a:solidFill>
                <a:latin typeface="Arial"/>
              </a:rPr>
              <a:t>Per Commercial Handbook: Land = ALL deals require approval,</a:t>
            </a:r>
          </a:p>
          <a:p>
            <a:r>
              <a:rPr sz="1100" b="0">
                <a:solidFill>
                  <a:srgbClr val="1A1D31"/>
                </a:solidFill>
                <a:latin typeface="Arial"/>
              </a:rPr>
              <a:t>Expand triggers at AER &gt;= EUR 500k. Flag any rows here for the</a:t>
            </a:r>
          </a:p>
          <a:p>
            <a:r>
              <a:rPr sz="1100" b="0">
                <a:solidFill>
                  <a:srgbClr val="1A1D31"/>
                </a:solidFill>
                <a:latin typeface="Arial"/>
              </a:rPr>
              <a:t>next Commercial Approval committee.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Retention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Renewal opps in scope — risk-of-termination flagged</a:t>
            </a:r>
          </a:p>
        </p:txBody>
      </p:sp>
      <p:sp>
        <p:nvSpPr>
          <p:cNvPr id="4" name="Text Placeholder 3"/>
          <p:cNvSpPr>
            <a:spLocks noGrp="1"/>
          </p:cNvSpPr>
          <p:nvPr>
            <p:ph type="body" idx="144" sz="quarter"/>
          </p:nvPr>
        </p:nvSpPr>
        <p:spPr/>
        <p:txBody>
          <a:bodyPr/>
          <a:lstStyle/>
          <a:p>
            <a:r>
              <a:t>Renewal Pipeline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HARVEY BALLS]</a:t>
            </a:r>
          </a:p>
          <a:p>
            <a:r>
              <a:rPr sz="1100" b="0">
                <a:solidFill>
                  <a:srgbClr val="1A1D31"/>
                </a:solidFill>
                <a:latin typeface="Arial"/>
              </a:rPr>
              <a:t>Source: legacy land.xlsx (NOT model.xlsx)</a:t>
            </a:r>
          </a:p>
          <a:p>
            <a:r>
              <a:rPr sz="1100" b="0">
                <a:solidFill>
                  <a:srgbClr val="1A1D31"/>
                </a:solidFill>
                <a:latin typeface="Arial"/>
              </a:rPr>
              <a:t>Range: At_Risk_Renewals!A1:H&lt;last&gt;</a:t>
            </a:r>
          </a:p>
          <a:p>
            <a:r>
              <a:rPr sz="1100" b="0">
                <a:solidFill>
                  <a:srgbClr val="1A1D31"/>
                </a:solidFill>
                <a:latin typeface="Arial"/>
              </a:rPr>
              <a:t>  Columns: # / Account / Owner / Stage / Close Date / ACV /</a:t>
            </a:r>
          </a:p>
          <a:p>
            <a:r>
              <a:rPr sz="1100" b="0">
                <a:solidFill>
                  <a:srgbClr val="1A1D31"/>
                </a:solidFill>
                <a:latin typeface="Arial"/>
              </a:rPr>
              <a:t>           Risk / Risk score (0-4)</a:t>
            </a:r>
          </a:p>
          <a:p>
            <a:r>
              <a:rPr sz="1100" b="0">
                <a:solidFill>
                  <a:srgbClr val="1A1D31"/>
                </a:solidFill>
                <a:latin typeface="Arial"/>
              </a:rPr>
              <a:t>Insert a think-cell HARVEY BALL (Insert &gt; think-cell &gt; Elements &gt;</a:t>
            </a:r>
          </a:p>
          <a:p>
            <a:r>
              <a:rPr sz="1100" b="0">
                <a:solidFill>
                  <a:srgbClr val="1A1D31"/>
                </a:solidFill>
                <a:latin typeface="Arial"/>
              </a:rPr>
              <a:t>Harvey ball) in a new column to the right of Risk score. Bind the</a:t>
            </a:r>
          </a:p>
          <a:p>
            <a:r>
              <a:rPr sz="1100" b="0">
                <a:solidFill>
                  <a:srgbClr val="1A1D31"/>
                </a:solidFill>
                <a:latin typeface="Arial"/>
              </a:rPr>
              <a:t>ball value to the Risk score column (0=empty, 4=full).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renewal save rate — proxy from closed Renewal opps last 12mo</a:t>
            </a:r>
          </a:p>
        </p:txBody>
      </p:sp>
      <p:sp>
        <p:nvSpPr>
          <p:cNvPr id="4" name="Text Placeholder 3"/>
          <p:cNvSpPr>
            <a:spLocks noGrp="1"/>
          </p:cNvSpPr>
          <p:nvPr>
            <p:ph type="body" idx="144" sz="quarter"/>
          </p:nvPr>
        </p:nvSpPr>
        <p:spPr/>
        <p:txBody>
          <a:bodyPr/>
          <a:lstStyle/>
          <a:p>
            <a:r>
              <a:t>GRR proxy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Retention!A1:B4</a:t>
            </a:r>
          </a:p>
          <a:p>
            <a:r>
              <a:rPr sz="1100" b="0">
                <a:solidFill>
                  <a:srgbClr val="1A1D31"/>
                </a:solidFill>
                <a:latin typeface="Arial"/>
              </a:rPr>
              <a:t>  Cols: Metric / Value</a:t>
            </a:r>
          </a:p>
          <a:p>
            <a:r>
              <a:rPr sz="1100" b="0">
                <a:solidFill>
                  <a:srgbClr val="1A1D31"/>
                </a:solidFill>
                <a:latin typeface="Arial"/>
              </a:rPr>
              <a:t>  Rows: Won Renewal ACV (last 12mo), Lost Renewal ACV (last 12mo),</a:t>
            </a:r>
          </a:p>
          <a:p>
            <a:r>
              <a:rPr sz="1100" b="0">
                <a:solidFill>
                  <a:srgbClr val="1A1D31"/>
                </a:solidFill>
                <a:latin typeface="Arial"/>
              </a:rPr>
              <a:t>        GRR proxy %</a:t>
            </a:r>
          </a:p>
          <a:p>
            <a:r>
              <a:rPr sz="1100" b="0">
                <a:solidFill>
                  <a:srgbClr val="1A1D31"/>
                </a:solidFill>
                <a:latin typeface="Arial"/>
              </a:rPr>
              <a:t>Bind cell A5 separately as a footnote text element to surface</a:t>
            </a:r>
          </a:p>
          <a:p>
            <a:r>
              <a:rPr sz="1100" b="0">
                <a:solidFill>
                  <a:srgbClr val="1A1D31"/>
                </a:solidFill>
                <a:latin typeface="Arial"/>
              </a:rPr>
              <a:t>the PROXY caveat (auto-renewals excluded, etc.).</a:t>
            </a:r>
          </a:p>
          <a:p>
            <a:r>
              <a:rPr sz="1100" b="0">
                <a:solidFill>
                  <a:srgbClr val="1A1D31"/>
                </a:solidFill>
                <a:latin typeface="Arial"/>
              </a:rPr>
              <a:t>CAVEAT: this is GRR-proxy-only today. True NRR + churn ACV +</a:t>
            </a:r>
          </a:p>
          <a:p>
            <a:r>
              <a:rPr sz="1100" b="0">
                <a:solidFill>
                  <a:srgbClr val="1A1D31"/>
                </a:solidFill>
                <a:latin typeface="Arial"/>
              </a:rPr>
              <a:t>expansion ACV require Pipeline_Snapshot__c history — Phase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CFQ Land+Expand pipeline by SF ForecastCategoryName</a:t>
            </a:r>
          </a:p>
        </p:txBody>
      </p:sp>
      <p:sp>
        <p:nvSpPr>
          <p:cNvPr id="4" name="Text Placeholder 3"/>
          <p:cNvSpPr>
            <a:spLocks noGrp="1"/>
          </p:cNvSpPr>
          <p:nvPr>
            <p:ph type="body" idx="144" sz="quarter"/>
          </p:nvPr>
        </p:nvSpPr>
        <p:spPr/>
        <p:txBody>
          <a:bodyPr/>
          <a:lstStyle/>
          <a:p>
            <a:r>
              <a:t>Forecast Category breakdown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COLUMN chart or table — datalinked]</a:t>
            </a:r>
          </a:p>
          <a:p>
            <a:r>
              <a:rPr sz="1100" b="0">
                <a:solidFill>
                  <a:srgbClr val="1A1D31"/>
                </a:solidFill>
                <a:latin typeface="Arial"/>
              </a:rPr>
              <a:t>Source: legacy land.xlsx (NOT model.xlsx)</a:t>
            </a:r>
          </a:p>
          <a:p>
            <a:r>
              <a:rPr sz="1100" b="0">
                <a:solidFill>
                  <a:srgbClr val="1A1D31"/>
                </a:solidFill>
                <a:latin typeface="Arial"/>
              </a:rPr>
              <a:t>Range: Forecast_Category!A4:C&lt;last&gt;</a:t>
            </a:r>
          </a:p>
          <a:p>
            <a:r>
              <a:rPr sz="1100" b="0">
                <a:solidFill>
                  <a:srgbClr val="1A1D31"/>
                </a:solidFill>
                <a:latin typeface="Arial"/>
              </a:rPr>
              <a:t>  Columns: Category / # Opps / ARR (EUR)</a:t>
            </a:r>
          </a:p>
          <a:p>
            <a:r>
              <a:rPr sz="1100" b="0">
                <a:solidFill>
                  <a:srgbClr val="1A1D31"/>
                </a:solidFill>
                <a:latin typeface="Arial"/>
              </a:rPr>
              <a:t>Categories: Pipeline / Best Case / Commit / Closed / Omitted.</a:t>
            </a:r>
          </a:p>
          <a:p>
            <a:r>
              <a:rPr sz="1100" b="0">
                <a:solidFill>
                  <a:srgbClr val="1A1D31"/>
                </a:solidFill>
                <a:latin typeface="Arial"/>
              </a:rPr>
              <a:t>Stakeholder framing: Commit is the floor; Best Case + Pipeline</a:t>
            </a:r>
          </a:p>
          <a:p>
            <a:r>
              <a:rPr sz="1100" b="0">
                <a:solidFill>
                  <a:srgbClr val="1A1D31"/>
                </a:solidFill>
                <a:latin typeface="Arial"/>
              </a:rPr>
              <a:t>is the upside.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Territory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rep within director scope</a:t>
            </a:r>
          </a:p>
        </p:txBody>
      </p:sp>
      <p:sp>
        <p:nvSpPr>
          <p:cNvPr id="4" name="Text Placeholder 3"/>
          <p:cNvSpPr>
            <a:spLocks noGrp="1"/>
          </p:cNvSpPr>
          <p:nvPr>
            <p:ph type="body" idx="144" sz="quarter"/>
          </p:nvPr>
        </p:nvSpPr>
        <p:spPr/>
        <p:txBody>
          <a:bodyPr/>
          <a:lstStyle/>
          <a:p>
            <a:r>
              <a:t>By owner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a:t>
            </a:r>
          </a:p>
          <a:p>
            <a:r>
              <a:rPr sz="1100" b="0">
                <a:solidFill>
                  <a:srgbClr val="1A1D31"/>
                </a:solidFill>
                <a:latin typeface="Arial"/>
              </a:rPr>
              <a:t>Range: By_Owner!A2:B&lt;last&gt;</a:t>
            </a:r>
          </a:p>
          <a:p>
            <a:r>
              <a:rPr sz="1100" b="0">
                <a:solidFill>
                  <a:srgbClr val="1A1D31"/>
                </a:solidFill>
                <a:latin typeface="Arial"/>
              </a:rPr>
              <a:t>  Y-axis  = Owner name (col A)</a:t>
            </a:r>
          </a:p>
          <a:p>
            <a:r>
              <a:rPr sz="1100" b="0">
                <a:solidFill>
                  <a:srgbClr val="1A1D31"/>
                </a:solidFill>
                <a:latin typeface="Arial"/>
              </a:rPr>
              <a:t>  X-axis  = ARR (col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Where the pipeline lives — cross-tab heat map</a:t>
            </a:r>
          </a:p>
        </p:txBody>
      </p:sp>
      <p:sp>
        <p:nvSpPr>
          <p:cNvPr id="4" name="Text Placeholder 3"/>
          <p:cNvSpPr>
            <a:spLocks noGrp="1"/>
          </p:cNvSpPr>
          <p:nvPr>
            <p:ph type="body" idx="144" sz="quarter"/>
          </p:nvPr>
        </p:nvSpPr>
        <p:spPr/>
        <p:txBody>
          <a:bodyPr/>
          <a:lstStyle/>
          <a:p>
            <a:r>
              <a:t>Stage × Industry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MEKKO chart — variable-width 100%-stacked]</a:t>
            </a:r>
          </a:p>
          <a:p>
            <a:r>
              <a:rPr sz="1100" b="0">
                <a:solidFill>
                  <a:srgbClr val="1A1D31"/>
                </a:solidFill>
                <a:latin typeface="Arial"/>
              </a:rPr>
              <a:t>Range: Pivots — find 'Stage × Industry' block on the Pivots sheet</a:t>
            </a:r>
          </a:p>
          <a:p>
            <a:r>
              <a:rPr sz="1100" b="0">
                <a:solidFill>
                  <a:srgbClr val="1A1D31"/>
                </a:solidFill>
                <a:latin typeface="Arial"/>
              </a:rPr>
              <a:t>  Bar width  = total ARR per industry (column totals)</a:t>
            </a:r>
          </a:p>
          <a:p>
            <a:r>
              <a:rPr sz="1100" b="0">
                <a:solidFill>
                  <a:srgbClr val="1A1D31"/>
                </a:solidFill>
                <a:latin typeface="Arial"/>
              </a:rPr>
              <a:t>  Bar height = stage mix % within each industry</a:t>
            </a:r>
          </a:p>
          <a:p>
            <a:r>
              <a:rPr sz="1100" b="0">
                <a:solidFill>
                  <a:srgbClr val="1A1D31"/>
                </a:solidFill>
                <a:latin typeface="Arial"/>
              </a:rPr>
              <a:t>Mekko encodes ARR weight in bar width — heavier-pipe industries</a:t>
            </a:r>
          </a:p>
          <a:p>
            <a:r>
              <a:rPr sz="1100" b="0">
                <a:solidFill>
                  <a:srgbClr val="1A1D31"/>
                </a:solidFill>
                <a:latin typeface="Arial"/>
              </a:rPr>
              <a:t>appear visually larger, replacing the heat-map workaround.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ARR by Account.BillingCountry within director scope</a:t>
            </a:r>
          </a:p>
        </p:txBody>
      </p:sp>
      <p:sp>
        <p:nvSpPr>
          <p:cNvPr id="4" name="Text Placeholder 3"/>
          <p:cNvSpPr>
            <a:spLocks noGrp="1"/>
          </p:cNvSpPr>
          <p:nvPr>
            <p:ph type="body" idx="144" sz="quarter"/>
          </p:nvPr>
        </p:nvSpPr>
        <p:spPr/>
        <p:txBody>
          <a:bodyPr/>
          <a:lstStyle/>
          <a:p>
            <a:r>
              <a:t>Per-territory pipeline mix</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chart — datalinked]</a:t>
            </a:r>
          </a:p>
          <a:p>
            <a:r>
              <a:rPr sz="1100" b="0">
                <a:solidFill>
                  <a:srgbClr val="1A1D31"/>
                </a:solidFill>
                <a:latin typeface="Arial"/>
              </a:rPr>
              <a:t>Source: model.xlsx</a:t>
            </a:r>
          </a:p>
          <a:p>
            <a:r>
              <a:rPr sz="1100" b="0">
                <a:solidFill>
                  <a:srgbClr val="1A1D31"/>
                </a:solidFill>
                <a:latin typeface="Arial"/>
              </a:rPr>
              <a:t>Range: Territory_Performance!A1:D&lt;last&gt;</a:t>
            </a:r>
          </a:p>
          <a:p>
            <a:r>
              <a:rPr sz="1100" b="0">
                <a:solidFill>
                  <a:srgbClr val="1A1D31"/>
                </a:solidFill>
                <a:latin typeface="Arial"/>
              </a:rPr>
              <a:t>  Cols: # / Country / # Opps / Open ARR (EUR)</a:t>
            </a:r>
          </a:p>
          <a:p>
            <a:r>
              <a:rPr sz="1100" b="0">
                <a:solidFill>
                  <a:srgbClr val="1A1D31"/>
                </a:solidFill>
                <a:latin typeface="Arial"/>
              </a:rPr>
              <a:t>  Pre-sorted descending by ARR (Top-N seed)</a:t>
            </a:r>
          </a:p>
          <a:p>
            <a:r>
              <a:rPr sz="1100" b="0">
                <a:solidFill>
                  <a:srgbClr val="1A1D31"/>
                </a:solidFill>
                <a:latin typeface="Arial"/>
              </a:rPr>
              <a:t>X-axis = Country (col B), Y-axis = ARR (col D). Optional 2nd</a:t>
            </a:r>
          </a:p>
          <a:p>
            <a:r>
              <a:rPr sz="1100" b="0">
                <a:solidFill>
                  <a:srgbClr val="1A1D31"/>
                </a:solidFill>
                <a:latin typeface="Arial"/>
              </a:rPr>
              <a:t>series: # Opps (col C) on a secondary axis. % of book is NOT</a:t>
            </a:r>
          </a:p>
          <a:p>
            <a:r>
              <a:rPr sz="1100" b="0">
                <a:solidFill>
                  <a:srgbClr val="1A1D31"/>
                </a:solidFill>
                <a:latin typeface="Arial"/>
              </a:rPr>
              <a:t>in this sheet today — compute it as a deck-side derived field</a:t>
            </a:r>
          </a:p>
          <a:p>
            <a:r>
              <a:rPr sz="1100" b="0">
                <a:solidFill>
                  <a:srgbClr val="1A1D31"/>
                </a:solidFill>
                <a:latin typeface="Arial"/>
              </a:rPr>
              <a:t>(=ARR / Pipeline_Total!B2+B3) if needed.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Closed-won and closed-lost ARR — quarter-to-date</a:t>
            </a:r>
          </a:p>
        </p:txBody>
      </p:sp>
      <p:sp>
        <p:nvSpPr>
          <p:cNvPr id="4" name="Text Placeholder 3"/>
          <p:cNvSpPr>
            <a:spLocks noGrp="1"/>
          </p:cNvSpPr>
          <p:nvPr>
            <p:ph type="body" idx="144" sz="quarter"/>
          </p:nvPr>
        </p:nvSpPr>
        <p:spPr/>
        <p:txBody>
          <a:bodyPr/>
          <a:lstStyle/>
          <a:p>
            <a:r>
              <a:t>QTD wins and losses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GROUPED COLUMN chart or table — datalinked]</a:t>
            </a:r>
          </a:p>
          <a:p>
            <a:r>
              <a:rPr sz="1100" b="0">
                <a:solidFill>
                  <a:srgbClr val="1A1D31"/>
                </a:solidFill>
                <a:latin typeface="Arial"/>
              </a:rPr>
              <a:t>Source: model.xlsx</a:t>
            </a:r>
          </a:p>
          <a:p>
            <a:r>
              <a:rPr sz="1100" b="0">
                <a:solidFill>
                  <a:srgbClr val="1A1D31"/>
                </a:solidFill>
                <a:latin typeface="Arial"/>
              </a:rPr>
              <a:t>Range: Wins_Losses_QTD!A1:D3</a:t>
            </a:r>
          </a:p>
          <a:p>
            <a:r>
              <a:rPr sz="1100" b="0">
                <a:solidFill>
                  <a:srgbClr val="1A1D31"/>
                </a:solidFill>
                <a:latin typeface="Arial"/>
              </a:rPr>
              <a:t>  Cols: Outcome / # / ARR (Land+Expand, EUR) / ACV (Renewal, EUR)</a:t>
            </a:r>
          </a:p>
          <a:p>
            <a:r>
              <a:rPr sz="1100" b="0">
                <a:solidFill>
                  <a:srgbClr val="1A1D31"/>
                </a:solidFill>
                <a:latin typeface="Arial"/>
              </a:rPr>
              <a:t>  Rows: Won, Lost</a:t>
            </a:r>
          </a:p>
          <a:p>
            <a:r>
              <a:rPr sz="1100" b="0">
                <a:solidFill>
                  <a:srgbClr val="1A1D31"/>
                </a:solidFill>
                <a:latin typeface="Arial"/>
              </a:rPr>
              <a:t>Render as 2-row table OR grouped column (Won vs Lost). Highlight</a:t>
            </a:r>
          </a:p>
          <a:p>
            <a:r>
              <a:rPr sz="1100" b="0">
                <a:solidFill>
                  <a:srgbClr val="1A1D31"/>
                </a:solidFill>
                <a:latin typeface="Arial"/>
              </a:rPr>
              <a:t>Won row in brand-blue (#083EA7); Lost row in coral (#EF3E4A).</a:t>
            </a:r>
          </a:p>
          <a:p>
            <a:r>
              <a:rPr sz="1100" b="0">
                <a:solidFill>
                  <a:srgbClr val="1A1D31"/>
                </a:solidFill>
                <a:latin typeface="Arial"/>
              </a:rPr>
              <a:t>Cycle days is on the Sales_Velocity slide, not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age (proxy via CreatedDate) — caveat in cell F1</a:t>
            </a:r>
          </a:p>
        </p:txBody>
      </p:sp>
      <p:sp>
        <p:nvSpPr>
          <p:cNvPr id="4" name="Text Placeholder 3"/>
          <p:cNvSpPr>
            <a:spLocks noGrp="1"/>
          </p:cNvSpPr>
          <p:nvPr>
            <p:ph type="body" idx="144" sz="quarter"/>
          </p:nvPr>
        </p:nvSpPr>
        <p:spPr/>
        <p:txBody>
          <a:bodyPr/>
          <a:lstStyle/>
          <a:p>
            <a:r>
              <a:t>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a:t>
            </a:r>
          </a:p>
          <a:p>
            <a:r>
              <a:rPr sz="1100" b="0">
                <a:solidFill>
                  <a:srgbClr val="1A1D31"/>
                </a:solidFill>
                <a:latin typeface="Arial"/>
              </a:rPr>
              <a:t>Range: Velocity!A3:E10</a:t>
            </a:r>
          </a:p>
          <a:p>
            <a:r>
              <a:rPr sz="1100" b="0">
                <a:solidFill>
                  <a:srgbClr val="1A1D31"/>
                </a:solidFill>
                <a:latin typeface="Arial"/>
              </a:rPr>
              <a:t>  Bars (left axis)  = # Open opps (col B)</a:t>
            </a:r>
          </a:p>
          <a:p>
            <a:r>
              <a:rPr sz="1100" b="0">
                <a:solidFill>
                  <a:srgbClr val="1A1D31"/>
                </a:solidFill>
                <a:latin typeface="Arial"/>
              </a:rPr>
              <a:t>  Line (right axis) = Avg age days (col C)</a:t>
            </a:r>
          </a:p>
          <a:p>
            <a:r>
              <a:rPr sz="1100" b="0">
                <a:solidFill>
                  <a:srgbClr val="1A1D31"/>
                </a:solidFill>
                <a:latin typeface="Arial"/>
              </a:rPr>
              <a:t>  Annotate stages where &gt;180d count (col E) &gt;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Risks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Top-N share of total open pipeline + single-deal flag</a:t>
            </a:r>
          </a:p>
        </p:txBody>
      </p:sp>
      <p:sp>
        <p:nvSpPr>
          <p:cNvPr id="4" name="Text Placeholder 3"/>
          <p:cNvSpPr>
            <a:spLocks noGrp="1"/>
          </p:cNvSpPr>
          <p:nvPr>
            <p:ph type="body" idx="144" sz="quarter"/>
          </p:nvPr>
        </p:nvSpPr>
        <p:spPr/>
        <p:txBody>
          <a:bodyPr/>
          <a:lstStyle/>
          <a:p>
            <a:r>
              <a:t>Concentration risk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+ 100%-stacked column]</a:t>
            </a:r>
          </a:p>
          <a:p>
            <a:r>
              <a:rPr sz="1100" b="0">
                <a:solidFill>
                  <a:srgbClr val="1A1D31"/>
                </a:solidFill>
                <a:latin typeface="Arial"/>
              </a:rPr>
              <a:t>Cell binds:</a:t>
            </a:r>
          </a:p>
          <a:p>
            <a:r>
              <a:rPr sz="1100" b="0">
                <a:solidFill>
                  <a:srgbClr val="1A1D31"/>
                </a:solidFill>
                <a:latin typeface="Arial"/>
              </a:rPr>
              <a:t>  Concentration!B5  →  largest deal account</a:t>
            </a:r>
          </a:p>
          <a:p>
            <a:r>
              <a:rPr sz="1100" b="0">
                <a:solidFill>
                  <a:srgbClr val="1A1D31"/>
                </a:solidFill>
                <a:latin typeface="Arial"/>
              </a:rPr>
              <a:t>  Concentration!B6  →  largest deal ARR</a:t>
            </a:r>
          </a:p>
          <a:p>
            <a:r>
              <a:rPr sz="1100" b="0">
                <a:solidFill>
                  <a:srgbClr val="1A1D31"/>
                </a:solidFill>
                <a:latin typeface="Arial"/>
              </a:rPr>
              <a:t>  Concentration!B7  →  share of total pipeline (%)</a:t>
            </a:r>
          </a:p>
          <a:p>
            <a:r>
              <a:rPr sz="1100" b="0">
                <a:solidFill>
                  <a:srgbClr val="1A1D31"/>
                </a:solidFill>
                <a:latin typeface="Arial"/>
              </a:rPr>
              <a:t>  Concentration!B8  →  '25% threshold tripped?' flag</a:t>
            </a:r>
          </a:p>
          <a:p>
            <a:r>
              <a:rPr sz="1100" b="0">
                <a:solidFill>
                  <a:srgbClr val="1A1D31"/>
                </a:solidFill>
                <a:latin typeface="Arial"/>
              </a:rPr>
              <a:t>Top-N column: Concentration!A12:C15 (Top 1/3/5/10 account share)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late-stage opps older than 60 days by CreatedDate</a:t>
            </a:r>
          </a:p>
        </p:txBody>
      </p:sp>
      <p:sp>
        <p:nvSpPr>
          <p:cNvPr id="4" name="Text Placeholder 3"/>
          <p:cNvSpPr>
            <a:spLocks noGrp="1"/>
          </p:cNvSpPr>
          <p:nvPr>
            <p:ph type="body" idx="144" sz="quarter"/>
          </p:nvPr>
        </p:nvSpPr>
        <p:spPr/>
        <p:txBody>
          <a:bodyPr/>
          <a:lstStyle/>
          <a:p>
            <a:r>
              <a:t>Stage 3+ stale activity (CreatedDate proxy)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chart — datalinked]</a:t>
            </a:r>
          </a:p>
          <a:p>
            <a:r>
              <a:rPr sz="1100" b="0">
                <a:solidFill>
                  <a:srgbClr val="1A1D31"/>
                </a:solidFill>
                <a:latin typeface="Arial"/>
              </a:rPr>
              <a:t>Source: model.xlsx</a:t>
            </a:r>
          </a:p>
          <a:p>
            <a:r>
              <a:rPr sz="1100" b="0">
                <a:solidFill>
                  <a:srgbClr val="1A1D31"/>
                </a:solidFill>
                <a:latin typeface="Arial"/>
              </a:rPr>
              <a:t>Range: Stale_Activity!A1:C5</a:t>
            </a:r>
          </a:p>
          <a:p>
            <a:r>
              <a:rPr sz="1100" b="0">
                <a:solidFill>
                  <a:srgbClr val="1A1D31"/>
                </a:solidFill>
                <a:latin typeface="Arial"/>
              </a:rPr>
              <a:t>  Cols: Stage / # Stale opps / ARR (EUR)</a:t>
            </a:r>
          </a:p>
          <a:p>
            <a:r>
              <a:rPr sz="1100" b="0">
                <a:solidFill>
                  <a:srgbClr val="1A1D31"/>
                </a:solidFill>
                <a:latin typeface="Arial"/>
              </a:rPr>
              <a:t>  Rows: Stage 3 / Stage 4 / Stage 5 / Stage 6 (header in row 1)</a:t>
            </a:r>
          </a:p>
          <a:p>
            <a:r>
              <a:rPr sz="1100" b="0">
                <a:solidFill>
                  <a:srgbClr val="1A1D31"/>
                </a:solidFill>
                <a:latin typeface="Arial"/>
              </a:rPr>
              <a:t>Bars: X-axis = Stage, Y-axis = ARR. Highlight bars where</a:t>
            </a:r>
          </a:p>
          <a:p>
            <a:r>
              <a:rPr sz="1100" b="0">
                <a:solidFill>
                  <a:srgbClr val="1A1D31"/>
                </a:solidFill>
                <a:latin typeface="Arial"/>
              </a:rPr>
              <a:t># stale opps &gt; 5 in coral (#EF3E4A).</a:t>
            </a:r>
          </a:p>
          <a:p>
            <a:r>
              <a:rPr sz="1100" b="0">
                <a:solidFill>
                  <a:srgbClr val="1A1D31"/>
                </a:solidFill>
                <a:latin typeface="Arial"/>
              </a:rPr>
              <a:t>CAVEAT: 'stale' is currently a CreatedDate-age proxy (&gt;60d).</a:t>
            </a:r>
          </a:p>
          <a:p>
            <a:r>
              <a:rPr sz="1100" b="0">
                <a:solidFill>
                  <a:srgbClr val="1A1D31"/>
                </a:solidFill>
                <a:latin typeface="Arial"/>
              </a:rPr>
              <a:t>True LastActivityDate-based staleness needs Account.</a:t>
            </a:r>
          </a:p>
          <a:p>
            <a:r>
              <a:rPr sz="1100" b="0">
                <a:solidFill>
                  <a:srgbClr val="1A1D31"/>
                </a:solidFill>
                <a:latin typeface="Arial"/>
              </a:rPr>
              <a:t>LastActivityDate in tblData — Phase 3. Bind cell A7 separately</a:t>
            </a:r>
          </a:p>
          <a:p>
            <a:r>
              <a:rPr sz="1100" b="0">
                <a:solidFill>
                  <a:srgbClr val="1A1D31"/>
                </a:solidFill>
                <a:latin typeface="Arial"/>
              </a:rPr>
              <a:t>as a footnote to surface this caveat.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 opps × win rate × avg deal) ÷ cycle days — {period}</a:t>
            </a:r>
          </a:p>
        </p:txBody>
      </p:sp>
      <p:sp>
        <p:nvSpPr>
          <p:cNvPr id="4" name="Text Placeholder 3"/>
          <p:cNvSpPr>
            <a:spLocks noGrp="1"/>
          </p:cNvSpPr>
          <p:nvPr>
            <p:ph type="body" idx="144" sz="quarter"/>
          </p:nvPr>
        </p:nvSpPr>
        <p:spPr/>
        <p:txBody>
          <a:bodyPr/>
          <a:lstStyle/>
          <a:p>
            <a:r>
              <a:t>Sales 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single-cell bindings]</a:t>
            </a:r>
          </a:p>
          <a:p>
            <a:r>
              <a:rPr sz="1100" b="0">
                <a:solidFill>
                  <a:srgbClr val="1A1D31"/>
                </a:solidFill>
                <a:latin typeface="Arial"/>
              </a:rPr>
              <a:t>Source: model.xlsx</a:t>
            </a:r>
          </a:p>
          <a:p>
            <a:r>
              <a:rPr sz="1100" b="0">
                <a:solidFill>
                  <a:srgbClr val="1A1D31"/>
                </a:solidFill>
                <a:latin typeface="Arial"/>
              </a:rPr>
              <a:t>Range: Sales_Velocity!A1:C6</a:t>
            </a:r>
          </a:p>
          <a:p>
            <a:r>
              <a:rPr sz="1100" b="0">
                <a:solidFill>
                  <a:srgbClr val="1A1D31"/>
                </a:solidFill>
                <a:latin typeface="Arial"/>
              </a:rPr>
              <a:t>  Single-cell text bindings, in formula order:</a:t>
            </a:r>
          </a:p>
          <a:p>
            <a:r>
              <a:rPr sz="1100" b="0">
                <a:solidFill>
                  <a:srgbClr val="1A1D31"/>
                </a:solidFill>
                <a:latin typeface="Arial"/>
              </a:rPr>
              <a:t>    Sales_Velocity!B2  →  # Open L+E opps</a:t>
            </a:r>
          </a:p>
          <a:p>
            <a:r>
              <a:rPr sz="1100" b="0">
                <a:solidFill>
                  <a:srgbClr val="1A1D31"/>
                </a:solidFill>
                <a:latin typeface="Arial"/>
              </a:rPr>
              <a:t>    Sales_Velocity!B3  →  Win rate (CFQ Land+Expand closed)</a:t>
            </a:r>
          </a:p>
          <a:p>
            <a:r>
              <a:rPr sz="1100" b="0">
                <a:solidFill>
                  <a:srgbClr val="1A1D31"/>
                </a:solidFill>
                <a:latin typeface="Arial"/>
              </a:rPr>
              <a:t>    Sales_Velocity!B4  →  Avg deal size (won, last 6mo, EUR)</a:t>
            </a:r>
          </a:p>
          <a:p>
            <a:r>
              <a:rPr sz="1100" b="0">
                <a:solidFill>
                  <a:srgbClr val="1A1D31"/>
                </a:solidFill>
                <a:latin typeface="Arial"/>
              </a:rPr>
              <a:t>    Sales_Velocity!B5  →  Avg cycle days (won, last 6mo)</a:t>
            </a:r>
          </a:p>
          <a:p>
            <a:r>
              <a:rPr sz="1100" b="0">
                <a:solidFill>
                  <a:srgbClr val="1A1D31"/>
                </a:solidFill>
                <a:latin typeface="Arial"/>
              </a:rPr>
              <a:t>    Sales_Velocity!B6  →  Velocity (EUR / day)</a:t>
            </a:r>
          </a:p>
          <a:p>
            <a:r>
              <a:rPr sz="1100" b="0">
                <a:solidFill>
                  <a:srgbClr val="1A1D31"/>
                </a:solidFill>
                <a:latin typeface="Arial"/>
              </a:rPr>
              <a:t>Render 4 component KPI tiles across the slide; B6 (velocity)</a:t>
            </a:r>
          </a:p>
          <a:p>
            <a:r>
              <a:rPr sz="1100" b="0">
                <a:solidFill>
                  <a:srgbClr val="1A1D31"/>
                </a:solidFill>
                <a:latin typeface="Arial"/>
              </a:rPr>
              <a:t>sits center-large. The 'Note' column on each row (col C) is the</a:t>
            </a:r>
          </a:p>
          <a:p>
            <a:r>
              <a:rPr sz="1100" b="0">
                <a:solidFill>
                  <a:srgbClr val="1A1D31"/>
                </a:solidFill>
                <a:latin typeface="Arial"/>
              </a:rPr>
              <a:t>stakeholder-facing methodology — bind as italic-gray footnote.</a:t>
            </a:r>
          </a:p>
          <a:p>
            <a:r>
              <a:rPr sz="1100" b="0">
                <a:solidFill>
                  <a:srgbClr val="1A1D31"/>
                </a:solidFill>
                <a:latin typeface="Arial"/>
              </a:rPr>
              <a:t>No Δ-vs-prior cell exists today; QoQ delta is a Phase 2 ask.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Top-15 accounts × motions (Land / Expand / Renewal)</a:t>
            </a:r>
          </a:p>
        </p:txBody>
      </p:sp>
      <p:sp>
        <p:nvSpPr>
          <p:cNvPr id="4" name="Text Placeholder 3"/>
          <p:cNvSpPr>
            <a:spLocks noGrp="1"/>
          </p:cNvSpPr>
          <p:nvPr>
            <p:ph type="body" idx="144" sz="quarter"/>
          </p:nvPr>
        </p:nvSpPr>
        <p:spPr/>
        <p:txBody>
          <a:bodyPr/>
          <a:lstStyle/>
          <a:p>
            <a:r>
              <a:t>Account expansion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Account_Expansion!A1:F16</a:t>
            </a:r>
          </a:p>
          <a:p>
            <a:r>
              <a:rPr sz="1100" b="0">
                <a:solidFill>
                  <a:srgbClr val="1A1D31"/>
                </a:solidFill>
                <a:latin typeface="Arial"/>
              </a:rPr>
              <a:t>  Cols: # / Account / Land ARR / Expand ARR / Renewal ACV / # Motions</a:t>
            </a:r>
          </a:p>
          <a:p>
            <a:r>
              <a:rPr sz="1100" b="0">
                <a:solidFill>
                  <a:srgbClr val="1A1D31"/>
                </a:solidFill>
                <a:latin typeface="Arial"/>
              </a:rPr>
              <a:t>  Rows: Top-15 accounts by total open pipeline</a:t>
            </a:r>
          </a:p>
          <a:p>
            <a:r>
              <a:rPr sz="1100" b="0">
                <a:solidFill>
                  <a:srgbClr val="1A1D31"/>
                </a:solidFill>
                <a:latin typeface="Arial"/>
              </a:rPr>
              <a:t>Highlight rows where # Motions (col F) = 3 in pale aqua (#DCEEF5) —</a:t>
            </a:r>
          </a:p>
          <a:p>
            <a:r>
              <a:rPr sz="1100" b="0">
                <a:solidFill>
                  <a:srgbClr val="1A1D31"/>
                </a:solidFill>
                <a:latin typeface="Arial"/>
              </a:rPr>
              <a:t>these are full-stack expansion candidates. Conditional fill on</a:t>
            </a:r>
          </a:p>
          <a:p>
            <a:r>
              <a:rPr sz="1100" b="0">
                <a:solidFill>
                  <a:srgbClr val="1A1D31"/>
                </a:solidFill>
                <a:latin typeface="Arial"/>
              </a:rPr>
              <a:t>ARR cells (cols C/D/E): zero = light gray, &gt; EUR 500k = brand-blue tint.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12-week rolling — # new opps and ARR added</a:t>
            </a:r>
          </a:p>
        </p:txBody>
      </p:sp>
      <p:sp>
        <p:nvSpPr>
          <p:cNvPr id="4" name="Text Placeholder 3"/>
          <p:cNvSpPr>
            <a:spLocks noGrp="1"/>
          </p:cNvSpPr>
          <p:nvPr>
            <p:ph type="body" idx="144" sz="quarter"/>
          </p:nvPr>
        </p:nvSpPr>
        <p:spPr/>
        <p:txBody>
          <a:bodyPr/>
          <a:lstStyle/>
          <a:p>
            <a:r>
              <a:t>Pipeline creation 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 datalinked]</a:t>
            </a:r>
          </a:p>
          <a:p>
            <a:r>
              <a:rPr sz="1100" b="0">
                <a:solidFill>
                  <a:srgbClr val="1A1D31"/>
                </a:solidFill>
                <a:latin typeface="Arial"/>
              </a:rPr>
              <a:t>Source: model.xlsx</a:t>
            </a:r>
          </a:p>
          <a:p>
            <a:r>
              <a:rPr sz="1100" b="0">
                <a:solidFill>
                  <a:srgbClr val="1A1D31"/>
                </a:solidFill>
                <a:latin typeface="Arial"/>
              </a:rPr>
              <a:t>Range: Pipeline_Creation_Velocity!A1:C13</a:t>
            </a:r>
          </a:p>
          <a:p>
            <a:r>
              <a:rPr sz="1100" b="0">
                <a:solidFill>
                  <a:srgbClr val="1A1D31"/>
                </a:solidFill>
                <a:latin typeface="Arial"/>
              </a:rPr>
              <a:t>  Cols: Week-ending / # new opps / ARR added (EUR)</a:t>
            </a:r>
          </a:p>
          <a:p>
            <a:r>
              <a:rPr sz="1100" b="0">
                <a:solidFill>
                  <a:srgbClr val="1A1D31"/>
                </a:solidFill>
                <a:latin typeface="Arial"/>
              </a:rPr>
              <a:t>  Rows: 12 weekly buckets, oldest first</a:t>
            </a:r>
          </a:p>
          <a:p>
            <a:r>
              <a:rPr sz="1100" b="0">
                <a:solidFill>
                  <a:srgbClr val="1A1D31"/>
                </a:solidFill>
                <a:latin typeface="Arial"/>
              </a:rPr>
              <a:t>Bars (left axis)  = # new opps (col B)</a:t>
            </a:r>
          </a:p>
          <a:p>
            <a:r>
              <a:rPr sz="1100" b="0">
                <a:solidFill>
                  <a:srgbClr val="1A1D31"/>
                </a:solidFill>
                <a:latin typeface="Arial"/>
              </a:rPr>
              <a:t>Line (right axis) = ARR added (col C)</a:t>
            </a:r>
          </a:p>
          <a:p>
            <a:r>
              <a:rPr sz="1100" b="0">
                <a:solidFill>
                  <a:srgbClr val="1A1D31"/>
                </a:solidFill>
                <a:latin typeface="Arial"/>
              </a:rPr>
              <a:t>Annotate weeks where # new opps = 0 (creation drought) and</a:t>
            </a:r>
          </a:p>
          <a:p>
            <a:r>
              <a:rPr sz="1100" b="0">
                <a:solidFill>
                  <a:srgbClr val="1A1D31"/>
                </a:solidFill>
                <a:latin typeface="Arial"/>
              </a:rPr>
              <a:t>weeks where ARR added is in the top quartile of the window.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ranked actions for the director</a:t>
            </a:r>
          </a:p>
        </p:txBody>
      </p:sp>
      <p:sp>
        <p:nvSpPr>
          <p:cNvPr id="4" name="Text Placeholder 3"/>
          <p:cNvSpPr>
            <a:spLocks noGrp="1"/>
          </p:cNvSpPr>
          <p:nvPr>
            <p:ph type="body" idx="144" sz="quarter"/>
          </p:nvPr>
        </p:nvSpPr>
        <p:spPr/>
        <p:txBody>
          <a:bodyPr/>
          <a:lstStyle/>
          <a:p>
            <a: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Narrative — pulled from brief.md</a:t>
            </a:r>
          </a:p>
        </p:txBody>
      </p:sp>
      <p:sp>
        <p:nvSpPr>
          <p:cNvPr id="4" name="Text Placeholder 3"/>
          <p:cNvSpPr>
            <a:spLocks noGrp="1"/>
          </p:cNvSpPr>
          <p:nvPr>
            <p:ph type="body" idx="144" sz="quarter"/>
          </p:nvPr>
        </p:nvSpPr>
        <p:spPr/>
        <p:txBody>
          <a:bodyPr/>
          <a:lstStyle/>
          <a:p>
            <a: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t>Thank you</a:t>
            </a:r>
          </a:p>
        </p:txBody>
      </p:sp>
    </p:spTree>
  </p:cSld>
  <p:clrMapOvr>
    <a:masterClrMapping/>
  </p:clrMapOvr>
</p:sld>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